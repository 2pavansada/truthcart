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7df409538324bff" /><Relationship Type="http://schemas.openxmlformats.org/officeDocument/2006/relationships/extended-properties" Target="/docProps/app.xml" Id="R42d2b0bb9323482f" /><Relationship Type="http://schemas.openxmlformats.org/officeDocument/2006/relationships/officeDocument" Target="/ppt/presentation.xml" Id="Rd11fc520cbca454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74b9c8b93fb437f"/>
  </p:sldMasterIdLst>
  <p:notesMasterIdLst>
    <p:notesMasterId xmlns:r="http://schemas.openxmlformats.org/officeDocument/2006/relationships" r:id="R21728b4d8b154366"/>
  </p:notesMasterIdLst>
  <p:sldIdLst>
    <p:sldId xmlns:r="http://schemas.openxmlformats.org/officeDocument/2006/relationships" id="256" r:id="R8d28d86542c44e6a"/>
    <p:sldId xmlns:r="http://schemas.openxmlformats.org/officeDocument/2006/relationships" id="257" r:id="Rcf3b1e94782a4192"/>
    <p:sldId xmlns:r="http://schemas.openxmlformats.org/officeDocument/2006/relationships" id="258" r:id="Ra51c9683d0fd4a3a"/>
    <p:sldId xmlns:r="http://schemas.openxmlformats.org/officeDocument/2006/relationships" id="259" r:id="Rda0fce4a08ee42ff"/>
    <p:sldId xmlns:r="http://schemas.openxmlformats.org/officeDocument/2006/relationships" id="260" r:id="R8762889d8d1b4edd"/>
    <p:sldId xmlns:r="http://schemas.openxmlformats.org/officeDocument/2006/relationships" id="261" r:id="Rfe9f831c3e184f1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2904086b5f84de8" /><Relationship Type="http://schemas.openxmlformats.org/officeDocument/2006/relationships/slideMaster" Target="/ppt/slideMasters/slideMaster1.xml" Id="R074b9c8b93fb437f" /><Relationship Type="http://schemas.openxmlformats.org/officeDocument/2006/relationships/notesMaster" Target="/ppt/notesMasters/notesMaster1.xml" Id="R21728b4d8b154366" /><Relationship Type="http://schemas.openxmlformats.org/officeDocument/2006/relationships/presProps" Target="/ppt/presProps.xml" Id="R13e7c69b00d941c4" /><Relationship Type="http://schemas.openxmlformats.org/officeDocument/2006/relationships/tableStyles" Target="/ppt/tableStyles.xml" Id="R15819b6f20194334" /><Relationship Type="http://schemas.openxmlformats.org/officeDocument/2006/relationships/slide" Target="/ppt/slides/slide1.xml" Id="R8d28d86542c44e6a" /><Relationship Type="http://schemas.openxmlformats.org/officeDocument/2006/relationships/slide" Target="/ppt/slides/slide2.xml" Id="Rcf3b1e94782a4192" /><Relationship Type="http://schemas.openxmlformats.org/officeDocument/2006/relationships/slide" Target="/ppt/slides/slide3.xml" Id="Ra51c9683d0fd4a3a" /><Relationship Type="http://schemas.openxmlformats.org/officeDocument/2006/relationships/slide" Target="/ppt/slides/slide4.xml" Id="Rda0fce4a08ee42ff" /><Relationship Type="http://schemas.openxmlformats.org/officeDocument/2006/relationships/slide" Target="/ppt/slides/slide5.xml" Id="R8762889d8d1b4edd" /><Relationship Type="http://schemas.openxmlformats.org/officeDocument/2006/relationships/slide" Target="/ppt/slides/slide6.xml" Id="Rfe9f831c3e184f1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c2fe6886b6740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792e1cd6ed84543" /><Relationship Type="http://schemas.openxmlformats.org/officeDocument/2006/relationships/notesMaster" Target="/ppt/notesMasters/notesMaster1.xml" Id="R1921fb687c094a9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37ce85820d44b9a" /><Relationship Type="http://schemas.openxmlformats.org/officeDocument/2006/relationships/notesMaster" Target="/ppt/notesMasters/notesMaster1.xml" Id="Rfc5e103e3da84a0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e172eba0e504baf" /><Relationship Type="http://schemas.openxmlformats.org/officeDocument/2006/relationships/notesMaster" Target="/ppt/notesMasters/notesMaster1.xml" Id="R99338ff2e3ba47e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9fbf8e76d094bb2" /><Relationship Type="http://schemas.openxmlformats.org/officeDocument/2006/relationships/notesMaster" Target="/ppt/notesMasters/notesMaster1.xml" Id="Rfc58a02297cb42d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de9d6d499b0401c" /><Relationship Type="http://schemas.openxmlformats.org/officeDocument/2006/relationships/notesMaster" Target="/ppt/notesMasters/notesMaster1.xml" Id="Rf4a138e6826d468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1fb6a4929a94708" /><Relationship Type="http://schemas.openxmlformats.org/officeDocument/2006/relationships/notesMaster" Target="/ppt/notesMasters/notesMaster1.xml" Id="Rd75ad6dabb97419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Opening: TruthCart answers from the catalogue and policy supplied with the demo. The current fixture has 31 products and 11 policy sections; it is not the planned 5,000-product catalogue.</a:t>
            </a:r>
          </a:p>
          <a:p xmlns:a="http://schemas.openxmlformats.org/drawingml/2006/main">
            <a:r>
              <a:t>Sources: config/app.yaml; backend/app/settings.py; current SQLite demo database counts verified on 2026-10-18.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these as failure modes the system is designed to prevent, not as quantified market research.</a:t>
            </a:r>
          </a:p>
          <a:p xmlns:a="http://schemas.openxmlformats.org/drawingml/2006/main">
            <a:r>
              <a:t>The contract requires grounded claims, hard-filtered product results, clarification for ambiguity, and refusal when the evidence or capability is absent.</a:t>
            </a:r>
          </a:p>
          <a:p xmlns:a="http://schemas.openxmlformats.org/drawingml/2006/main">
            <a:r>
              <a:t>Sources: CONTRACTS.md; GROUNDING_AND_REFUSAL.md; backend/app/validation/validator.py; backend/app/orchestrator.py.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catalogue and policy retrieval paths. Catalogue requests are constrained by the trusted product repository; policy requests retrieve supplied policy sections. The response generator uses templates and the validator checks claims/cards.</a:t>
            </a:r>
          </a:p>
          <a:p xmlns:a="http://schemas.openxmlformats.org/drawingml/2006/main">
            <a:r>
              <a:t>Sources: backend/app/orchestrator.py; backend/app/retrieval/lexical.py; backend/app/retrieval/hybrid.py; backend/app/decision/engine.py; backend/app/generation/template_generator.py; backend/app/validation/validator.py.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Live demo flow: submit “show me black shoes under 2000”; then submit “only in stock” in the same session. The first turn returns five products. The second carries forward category, color, and price and returns three IN_STOCK products. The out-of-stock product and unknown-stock product are excluded.</a:t>
            </a:r>
          </a:p>
          <a:p xmlns:a="http://schemas.openxmlformats.org/drawingml/2006/main">
            <a:r>
              <a:t>The exact direct Orchestrator run on 2026-10-18 returned SH-BLK-001, SH-BLK-002, SH-BLK-003 for turn two. TC-D15-budget-stock-carryover is the matching active evaluation case.</a:t>
            </a:r>
          </a:p>
          <a:p xmlns:a="http://schemas.openxmlformats.org/drawingml/2006/main">
            <a:r>
              <a:t>Sources: backend/eval/dev_set/cases.json (TC-D15-budget-stock-carryover); backend/app/conversation/merger.py; backend/app/retrieval/lexical.py; backend/app/store/product_repo.py; backend/app/orchestrator.py.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Evaluation snapshot from the fresh 2026-10-18 backend run: 290 passed; evaluation has 30 active cases passed and 2 declared ordinary-path known gaps; G-AC-01 passes 17/17, G-AC-03 records zero validator trips, price-hallucination and critical-grounding gates pass. The number “0 findings” describes only this run, not a universal guarantee.</a:t>
            </a:r>
          </a:p>
          <a:p xmlns:a="http://schemas.openxmlformats.org/drawingml/2006/main">
            <a:r>
              <a:t>No latency or token-cost figure is presented because a reproducible benchmark result was not established for this run.</a:t>
            </a:r>
          </a:p>
          <a:p xmlns:a="http://schemas.openxmlformats.org/drawingml/2006/main">
            <a:r>
              <a:t>Sources: IMPLEMENTATION_STATUS.md, “Release-audit follow-up: V-10 provenance and structured-attribute audit”; backend/eval/runner.py; backend/eval/metrics.py.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a precise scope statement: the demo catalogue has 31 records and the policy source has 11 sections. The 5,000-product target was in the original plan, not this build. Semantic retrieval and paid services are not represented as implemented.</a:t>
            </a:r>
          </a:p>
          <a:p xmlns:a="http://schemas.openxmlformats.org/drawingml/2006/main">
            <a:r>
              <a:t>Sources: data/build/truthcart.sqlite (31 products, 11 policy sections); README.md original product plan; IMPLEMENTATION_STATUS.md current lexical-only limitation; config/app.yaml.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2d9cca8178414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2e4160968c49a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94a73371f8430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5bb313635a4e0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1b320909e043e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9c960b025b4b3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68578E6-C5AB-4202-B426-BEF5DC996C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E7C61F0-3CE0-46F1-BCF1-60CFD282609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93C8F3F-8E25-460E-9B48-43CB02BF43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2CC77E3-3C49-42E4-91CB-B057CAEDBB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FC1C6DB-7813-4865-B381-DE16AC8A02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8E8E452-669C-4CDF-9253-4CF636DE4A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74E4C05-7D71-4727-9996-9886F5F59B9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A04E49A-B88E-4116-8158-7ACB6F2C0E8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3832A4C-1C05-44B0-A78A-4843085D75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C0973C4-3406-4547-B693-24B8A86FF4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2013806acc64a61" /><Relationship Type="http://schemas.openxmlformats.org/officeDocument/2006/relationships/slideLayout" Target="/ppt/slideLayouts/slideLayout1.xml" Id="Rd74f5f35ad464b39" /><Relationship Type="http://schemas.openxmlformats.org/officeDocument/2006/relationships/slideLayout" Target="/ppt/slideLayouts/slideLayout2.xml" Id="R5abbdd8566eb4526" /><Relationship Type="http://schemas.openxmlformats.org/officeDocument/2006/relationships/slideLayout" Target="/ppt/slideLayouts/slideLayout3.xml" Id="R8e38979d50314701" /><Relationship Type="http://schemas.openxmlformats.org/officeDocument/2006/relationships/slideLayout" Target="/ppt/slideLayouts/slideLayout4.xml" Id="R52656d53eff34c4e" /><Relationship Type="http://schemas.openxmlformats.org/officeDocument/2006/relationships/slideLayout" Target="/ppt/slideLayouts/slideLayout5.xml" Id="Rcfebcac598324967" /><Relationship Type="http://schemas.openxmlformats.org/officeDocument/2006/relationships/slideLayout" Target="/ppt/slideLayouts/slideLayout6.xml" Id="R6c34755819a2447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74f5f35ad464b39"/>
    <p:sldLayoutId xmlns:r="http://schemas.openxmlformats.org/officeDocument/2006/relationships" id="2147483650" r:id="R5abbdd8566eb4526"/>
    <p:sldLayoutId xmlns:r="http://schemas.openxmlformats.org/officeDocument/2006/relationships" id="2147483651" r:id="R8e38979d50314701"/>
    <p:sldLayoutId xmlns:r="http://schemas.openxmlformats.org/officeDocument/2006/relationships" id="2147483652" r:id="R52656d53eff34c4e"/>
    <p:sldLayoutId xmlns:r="http://schemas.openxmlformats.org/officeDocument/2006/relationships" id="2147483653" r:id="Rcfebcac598324967"/>
    <p:sldLayoutId xmlns:r="http://schemas.openxmlformats.org/officeDocument/2006/relationships" id="2147483654" r:id="R6c34755819a2447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57e4f225e7442e" /><Relationship Type="http://schemas.openxmlformats.org/officeDocument/2006/relationships/notesSlide" Target="/ppt/notesSlides/notesSlide1.xml" Id="R90632ec69a78489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285a6d7c2e4ccb" /><Relationship Type="http://schemas.openxmlformats.org/officeDocument/2006/relationships/notesSlide" Target="/ppt/notesSlides/notesSlide2.xml" Id="Rdfabe71bb3e146a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eca829d2b04d74" /><Relationship Type="http://schemas.openxmlformats.org/officeDocument/2006/relationships/notesSlide" Target="/ppt/notesSlides/notesSlide3.xml" Id="Re7d9d8b8e086472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112a369afd41c5" /><Relationship Type="http://schemas.openxmlformats.org/officeDocument/2006/relationships/notesSlide" Target="/ppt/notesSlides/notesSlide4.xml" Id="Rb02d27e81adb4b1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25a25bafe94bd2" /><Relationship Type="http://schemas.openxmlformats.org/officeDocument/2006/relationships/notesSlide" Target="/ppt/notesSlides/notesSlide5.xml" Id="R59395e434ec04b6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a8ccede4e445b6" /><Relationship Type="http://schemas.openxmlformats.org/officeDocument/2006/relationships/notesSlide" Target="/ppt/notesSlides/notesSlide6.xml" Id="Rf94a642c2837455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0F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E540EC5F-6625-497D-9825-79118A5B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800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A6B2C3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A6B2C3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A6B2C3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A6B2C3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A6B2C3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A6B2C3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A6B2C3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A6B2C3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A6B2C3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A6B2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A6B2C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6B2C3"/>
                </a:solidFill>
                <a:latin typeface="Arial"/>
                <a:ea typeface="Arial"/>
                <a:cs typeface="Arial"/>
              </a:rPr>
              <a:t>TRUTHCART AI  •  CURRENT DEMO BUILD  •  18 OCT 2026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F09A0A3D-4CEC-43AF-A1EC-87A300B28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38900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A6B2C3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0">
                <a:solidFill>
                  <a:srgbClr val="A6B2C3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0">
                <a:solidFill>
                  <a:srgbClr val="A6B2C3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0">
                <a:solidFill>
                  <a:srgbClr val="A6B2C3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0">
                <a:solidFill>
                  <a:srgbClr val="A6B2C3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0">
                <a:solidFill>
                  <a:srgbClr val="A6B2C3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0">
                <a:solidFill>
                  <a:srgbClr val="A6B2C3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0">
                <a:solidFill>
                  <a:srgbClr val="A6B2C3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0">
                <a:solidFill>
                  <a:srgbClr val="A6B2C3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0">
                <a:solidFill>
                  <a:srgbClr val="A6B2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A6B2C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6B2C3"/>
                </a:solidFill>
                <a:latin typeface="Arial"/>
                <a:ea typeface="Arial"/>
                <a:cs typeface="Arial"/>
              </a:rPr>
              <a:t>01 / 06</a:t>
            </a:r>
          </a:p>
        </p:txBody>
      </p:sp>
      <p:sp>
        <p:nvSpPr>
          <p:cNvPr id="3" name="brand">
            <a:extLst xmlns:a="http://schemas.openxmlformats.org/drawingml/2006/main">
              <a:ext uri="{FF2B5EF4-FFF2-40B4-BE49-F238E27FC236}">
                <a16:creationId xmlns:a16="http://schemas.microsoft.com/office/drawing/2014/main" id="{A0FD1C10-DA39-406F-9C1D-396EA3CCA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B981"/>
                </a:solidFill>
                <a:latin typeface="Arial"/>
                <a:ea typeface="Arial"/>
                <a:cs typeface="Arial"/>
              </a:rPr>
              <a:t>TRUTHCART AI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246A041C-BB5E-449A-A3F6-9D9871745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9477375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51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  <a:lvl1pPr algn="l">
              <a:defRPr sz="51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1pPr>
            <a:lvl2pPr algn="l">
              <a:defRPr sz="51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2pPr>
            <a:lvl3pPr algn="l">
              <a:defRPr sz="51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3pPr>
            <a:lvl4pPr algn="l">
              <a:defRPr sz="51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4pPr>
            <a:lvl5pPr algn="l">
              <a:defRPr sz="51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5pPr>
            <a:lvl6pPr algn="l">
              <a:defRPr sz="51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6pPr>
            <a:lvl7pPr algn="l">
              <a:defRPr sz="51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7pPr>
            <a:lvl8pPr algn="l">
              <a:defRPr sz="51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8pPr>
            <a:lvl9pPr algn="l">
              <a:defRPr sz="51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51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Product answers</a:t>
            </a:r>
          </a:p>
          <a:p xmlns:a="http://schemas.openxmlformats.org/drawingml/2006/main">
            <a:pPr algn="l">
              <a:defRPr sz="51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with evidence attached.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5D351B57-4218-4F46-9D10-36EAC805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823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A6B2C3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A6B2C3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A6B2C3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A6B2C3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A6B2C3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A6B2C3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A6B2C3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A6B2C3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A6B2C3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A6B2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A6B2C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A6B2C3"/>
                </a:solidFill>
                <a:latin typeface="Arial"/>
                <a:ea typeface="Arial"/>
                <a:cs typeface="Arial"/>
              </a:rPr>
              <a:t>A grounded shopping assistant for catalogue and policy questions.</a:t>
            </a:r>
          </a:p>
        </p:txBody>
      </p:sp>
      <p:sp>
        <p:nvSpPr>
          <p:cNvPr id="6" name="cover-scope">
            <a:extLst xmlns:a="http://schemas.openxmlformats.org/drawingml/2006/main">
              <a:ext uri="{FF2B5EF4-FFF2-40B4-BE49-F238E27FC236}">
                <a16:creationId xmlns:a16="http://schemas.microsoft.com/office/drawing/2014/main" id="{6077AE46-16B5-4C1E-AB2A-078FF9680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16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31 demo products   •   11 policy sections   •   Local, template-based build</a:t>
            </a:r>
          </a:p>
        </p:txBody>
      </p:sp>
    </p:spTree>
    <p:extLst>
      <p:ext uri="{BB962C8B-B14F-4D97-AF65-F5344CB8AC3E}">
        <p14:creationId xmlns:p14="http://schemas.microsoft.com/office/powerpoint/2010/main" val="9131452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494157D-98A4-475C-B8A2-FABEF8873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525" b="1">
                <a:solidFill>
                  <a:srgbClr val="0A0F19"/>
                </a:solidFill>
                <a:latin typeface="Arial"/>
                <a:ea typeface="Arial"/>
                <a:cs typeface="Arial"/>
              </a:defRPr>
            </a:defPPr>
            <a:lvl1pPr algn="l">
              <a:defRPr sz="3525" b="1">
                <a:solidFill>
                  <a:srgbClr val="0A0F19"/>
                </a:solidFill>
                <a:latin typeface="Arial"/>
                <a:ea typeface="Arial"/>
                <a:cs typeface="Arial"/>
              </a:defRPr>
            </a:lvl1pPr>
            <a:lvl2pPr algn="l">
              <a:defRPr sz="3525" b="1">
                <a:solidFill>
                  <a:srgbClr val="0A0F19"/>
                </a:solidFill>
                <a:latin typeface="Arial"/>
                <a:ea typeface="Arial"/>
                <a:cs typeface="Arial"/>
              </a:defRPr>
            </a:lvl2pPr>
            <a:lvl3pPr algn="l">
              <a:defRPr sz="3525" b="1">
                <a:solidFill>
                  <a:srgbClr val="0A0F19"/>
                </a:solidFill>
                <a:latin typeface="Arial"/>
                <a:ea typeface="Arial"/>
                <a:cs typeface="Arial"/>
              </a:defRPr>
            </a:lvl3pPr>
            <a:lvl4pPr algn="l">
              <a:defRPr sz="3525" b="1">
                <a:solidFill>
                  <a:srgbClr val="0A0F19"/>
                </a:solidFill>
                <a:latin typeface="Arial"/>
                <a:ea typeface="Arial"/>
                <a:cs typeface="Arial"/>
              </a:defRPr>
            </a:lvl4pPr>
            <a:lvl5pPr algn="l">
              <a:defRPr sz="3525" b="1">
                <a:solidFill>
                  <a:srgbClr val="0A0F19"/>
                </a:solidFill>
                <a:latin typeface="Arial"/>
                <a:ea typeface="Arial"/>
                <a:cs typeface="Arial"/>
              </a:defRPr>
            </a:lvl5pPr>
            <a:lvl6pPr algn="l">
              <a:defRPr sz="3525" b="1">
                <a:solidFill>
                  <a:srgbClr val="0A0F19"/>
                </a:solidFill>
                <a:latin typeface="Arial"/>
                <a:ea typeface="Arial"/>
                <a:cs typeface="Arial"/>
              </a:defRPr>
            </a:lvl6pPr>
            <a:lvl7pPr algn="l">
              <a:defRPr sz="3525" b="1">
                <a:solidFill>
                  <a:srgbClr val="0A0F19"/>
                </a:solidFill>
                <a:latin typeface="Arial"/>
                <a:ea typeface="Arial"/>
                <a:cs typeface="Arial"/>
              </a:defRPr>
            </a:lvl7pPr>
            <a:lvl8pPr algn="l">
              <a:defRPr sz="3525" b="1">
                <a:solidFill>
                  <a:srgbClr val="0A0F19"/>
                </a:solidFill>
                <a:latin typeface="Arial"/>
                <a:ea typeface="Arial"/>
                <a:cs typeface="Arial"/>
              </a:defRPr>
            </a:lvl8pPr>
            <a:lvl9pPr algn="l">
              <a:defRPr sz="3525" b="1">
                <a:solidFill>
                  <a:srgbClr val="0A0F1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525" b="1">
                <a:solidFill>
                  <a:srgbClr val="0A0F19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0A0F19"/>
                </a:solidFill>
                <a:latin typeface="Arial"/>
                <a:ea typeface="Arial"/>
                <a:cs typeface="Arial"/>
              </a:rPr>
              <a:t>Failure modes in shopping answers</a:t>
            </a:r>
          </a:p>
        </p:txBody>
      </p:sp>
      <p:sp>
        <p:nvSpPr>
          <p:cNvPr id="2" name="footer">
            <a:extLst xmlns:a="http://schemas.openxmlformats.org/drawingml/2006/main">
              <a:ext uri="{FF2B5EF4-FFF2-40B4-BE49-F238E27FC236}">
                <a16:creationId xmlns:a16="http://schemas.microsoft.com/office/drawing/2014/main" id="{6B1F001A-D7B9-42F1-85FB-B07C6D4DE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800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75569"/>
                </a:solidFill>
                <a:latin typeface="Arial"/>
                <a:ea typeface="Arial"/>
                <a:cs typeface="Arial"/>
              </a:rPr>
              <a:t>TRUTHCART AI  •  CURRENT DEMO BUILD  •  18 OCT 2026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345441BF-2EB4-4A4B-801F-B970F488E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38900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02 / 06</a:t>
            </a:r>
          </a:p>
        </p:txBody>
      </p:sp>
      <p:sp>
        <p:nvSpPr>
          <p:cNvPr id="4" name="problem-one-number">
            <a:extLst xmlns:a="http://schemas.openxmlformats.org/drawingml/2006/main">
              <a:ext uri="{FF2B5EF4-FFF2-40B4-BE49-F238E27FC236}">
                <a16:creationId xmlns:a16="http://schemas.microsoft.com/office/drawing/2014/main" id="{0D786F79-5B17-407C-89AB-F2A61698E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B98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problem-one-title">
            <a:extLst xmlns:a="http://schemas.openxmlformats.org/drawingml/2006/main">
              <a:ext uri="{FF2B5EF4-FFF2-40B4-BE49-F238E27FC236}">
                <a16:creationId xmlns:a16="http://schemas.microsoft.com/office/drawing/2014/main" id="{BD1C19B5-B616-47E5-BCFE-0776C3A2D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4790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0A0F19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0A0F19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0A0F19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0A0F19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0A0F19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0A0F19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0A0F19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0A0F19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0A0F19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0A0F1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0A0F19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A0F19"/>
                </a:solidFill>
                <a:latin typeface="Arial"/>
                <a:ea typeface="Arial"/>
                <a:cs typeface="Arial"/>
              </a:rPr>
              <a:t>Unsupported facts</a:t>
            </a:r>
          </a:p>
        </p:txBody>
      </p:sp>
      <p:sp>
        <p:nvSpPr>
          <p:cNvPr id="6" name="problem-one-copy">
            <a:extLst xmlns:a="http://schemas.openxmlformats.org/drawingml/2006/main">
              <a:ext uri="{FF2B5EF4-FFF2-40B4-BE49-F238E27FC236}">
                <a16:creationId xmlns:a16="http://schemas.microsoft.com/office/drawing/2014/main" id="{AB508221-134F-493C-BC00-F5CC5005B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2750"/>
            <a:ext cx="4476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01623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01623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01623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01623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01623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01623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01623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01623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01623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0162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0162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623"/>
                </a:solidFill>
                <a:latin typeface="Arial"/>
                <a:ea typeface="Arial"/>
                <a:cs typeface="Arial"/>
              </a:rPr>
              <a:t>A fluent answer can still invent a price, stock status, or product attribute when the source does not establish it.</a:t>
            </a:r>
          </a:p>
        </p:txBody>
      </p:sp>
      <p:sp>
        <p:nvSpPr>
          <p:cNvPr id="7" name="problem-two-number">
            <a:extLst xmlns:a="http://schemas.openxmlformats.org/drawingml/2006/main">
              <a:ext uri="{FF2B5EF4-FFF2-40B4-BE49-F238E27FC236}">
                <a16:creationId xmlns:a16="http://schemas.microsoft.com/office/drawing/2014/main" id="{EE89E4F8-F9E0-44E2-9C96-9FD0432A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B98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problem-two-title">
            <a:extLst xmlns:a="http://schemas.openxmlformats.org/drawingml/2006/main">
              <a:ext uri="{FF2B5EF4-FFF2-40B4-BE49-F238E27FC236}">
                <a16:creationId xmlns:a16="http://schemas.microsoft.com/office/drawing/2014/main" id="{7525AD70-E56F-425C-96C3-52CCB713A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4790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0A0F19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0A0F19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0A0F19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0A0F19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0A0F19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0A0F19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0A0F19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0A0F19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0A0F19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0A0F1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0A0F19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A0F19"/>
                </a:solidFill>
                <a:latin typeface="Arial"/>
                <a:ea typeface="Arial"/>
                <a:cs typeface="Arial"/>
              </a:rPr>
              <a:t>Constraint drift</a:t>
            </a:r>
          </a:p>
        </p:txBody>
      </p:sp>
      <p:sp>
        <p:nvSpPr>
          <p:cNvPr id="9" name="problem-two-copy">
            <a:extLst xmlns:a="http://schemas.openxmlformats.org/drawingml/2006/main">
              <a:ext uri="{FF2B5EF4-FFF2-40B4-BE49-F238E27FC236}">
                <a16:creationId xmlns:a16="http://schemas.microsoft.com/office/drawing/2014/main" id="{E96F417D-E298-45E2-BB50-CC1CC1595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52750"/>
            <a:ext cx="4619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01623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01623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01623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01623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01623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01623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01623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01623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01623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0162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0162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623"/>
                </a:solidFill>
                <a:latin typeface="Arial"/>
                <a:ea typeface="Arial"/>
                <a:cs typeface="Arial"/>
              </a:rPr>
              <a:t>A follow-up can lose the budget, category, or stock condition the shopper already set.</a:t>
            </a:r>
          </a:p>
        </p:txBody>
      </p:sp>
      <p:sp>
        <p:nvSpPr>
          <p:cNvPr id="10" name="problem-thesis">
            <a:extLst xmlns:a="http://schemas.openxmlformats.org/drawingml/2006/main">
              <a:ext uri="{FF2B5EF4-FFF2-40B4-BE49-F238E27FC236}">
                <a16:creationId xmlns:a16="http://schemas.microsoft.com/office/drawing/2014/main" id="{906E2208-158B-47C2-9EBC-9FCE57388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101441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101623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101623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101623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101623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101623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101623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101623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101623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101623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10162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0162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623"/>
                </a:solidFill>
                <a:latin typeface="Arial"/>
                <a:ea typeface="Arial"/>
                <a:cs typeface="Arial"/>
              </a:rPr>
              <a:t>TruthCart treats every product or policy answer as a claim that needs source evidence.</a:t>
            </a:r>
          </a:p>
        </p:txBody>
      </p:sp>
    </p:spTree>
    <p:extLst>
      <p:ext uri="{BB962C8B-B14F-4D97-AF65-F5344CB8AC3E}">
        <p14:creationId xmlns:p14="http://schemas.microsoft.com/office/powerpoint/2010/main" val="7541486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A0F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4AF3DE6-0C12-4A5F-A5BE-0B6AD2630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5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  <a:lvl1pPr algn="l">
              <a:defRPr sz="35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1pPr>
            <a:lvl2pPr algn="l">
              <a:defRPr sz="35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2pPr>
            <a:lvl3pPr algn="l">
              <a:defRPr sz="35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3pPr>
            <a:lvl4pPr algn="l">
              <a:defRPr sz="35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4pPr>
            <a:lvl5pPr algn="l">
              <a:defRPr sz="35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5pPr>
            <a:lvl6pPr algn="l">
              <a:defRPr sz="35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6pPr>
            <a:lvl7pPr algn="l">
              <a:defRPr sz="35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7pPr>
            <a:lvl8pPr algn="l">
              <a:defRPr sz="35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8pPr>
            <a:lvl9pPr algn="l">
              <a:defRPr sz="35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5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A local, evidence-first answer path</a:t>
            </a:r>
          </a:p>
        </p:txBody>
      </p:sp>
      <p:sp>
        <p:nvSpPr>
          <p:cNvPr id="2" name="footer">
            <a:extLst xmlns:a="http://schemas.openxmlformats.org/drawingml/2006/main">
              <a:ext uri="{FF2B5EF4-FFF2-40B4-BE49-F238E27FC236}">
                <a16:creationId xmlns:a16="http://schemas.microsoft.com/office/drawing/2014/main" id="{98F9970B-5320-4164-8DC5-995326A9F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800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A6B2C3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A6B2C3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A6B2C3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A6B2C3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A6B2C3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A6B2C3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A6B2C3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A6B2C3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A6B2C3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A6B2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A6B2C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6B2C3"/>
                </a:solidFill>
                <a:latin typeface="Arial"/>
                <a:ea typeface="Arial"/>
                <a:cs typeface="Arial"/>
              </a:rPr>
              <a:t>TRUTHCART AI  •  CURRENT DEMO BUILD  •  18 OCT 2026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1258E026-0874-441F-9A20-B976515AC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38900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A6B2C3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0">
                <a:solidFill>
                  <a:srgbClr val="A6B2C3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0">
                <a:solidFill>
                  <a:srgbClr val="A6B2C3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0">
                <a:solidFill>
                  <a:srgbClr val="A6B2C3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0">
                <a:solidFill>
                  <a:srgbClr val="A6B2C3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0">
                <a:solidFill>
                  <a:srgbClr val="A6B2C3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0">
                <a:solidFill>
                  <a:srgbClr val="A6B2C3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0">
                <a:solidFill>
                  <a:srgbClr val="A6B2C3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0">
                <a:solidFill>
                  <a:srgbClr val="A6B2C3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0">
                <a:solidFill>
                  <a:srgbClr val="A6B2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A6B2C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6B2C3"/>
                </a:solidFill>
                <a:latin typeface="Arial"/>
                <a:ea typeface="Arial"/>
                <a:cs typeface="Arial"/>
              </a:rPr>
              <a:t>03 / 06</a:t>
            </a:r>
          </a:p>
        </p:txBody>
      </p:sp>
      <p:sp>
        <p:nvSpPr>
          <p:cNvPr id="4" name="step-1-heading">
            <a:extLst xmlns:a="http://schemas.openxmlformats.org/drawingml/2006/main">
              <a:ext uri="{FF2B5EF4-FFF2-40B4-BE49-F238E27FC236}">
                <a16:creationId xmlns:a16="http://schemas.microsoft.com/office/drawing/2014/main" id="{10BCDD20-D588-44C7-8480-AF4E801C9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1  Parse</a:t>
            </a:r>
          </a:p>
        </p:txBody>
      </p:sp>
      <p:sp>
        <p:nvSpPr>
          <p:cNvPr id="5" name="step-1-body">
            <a:extLst xmlns:a="http://schemas.openxmlformats.org/drawingml/2006/main">
              <a:ext uri="{FF2B5EF4-FFF2-40B4-BE49-F238E27FC236}">
                <a16:creationId xmlns:a16="http://schemas.microsoft.com/office/drawing/2014/main" id="{F6DBDC39-138E-43DB-92D6-048BDCAB5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14650"/>
            <a:ext cx="2000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A6B2C3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A6B2C3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A6B2C3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A6B2C3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A6B2C3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A6B2C3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A6B2C3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A6B2C3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A6B2C3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A6B2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A6B2C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6B2C3"/>
                </a:solidFill>
                <a:latin typeface="Arial"/>
                <a:ea typeface="Arial"/>
                <a:cs typeface="Arial"/>
              </a:rPr>
              <a:t>Intent, entities,</a:t>
            </a:r>
          </a:p>
          <a:p xmlns:a="http://schemas.openxmlformats.org/drawingml/2006/main">
            <a:pPr algn="l">
              <a:defRPr sz="1575" b="0">
                <a:solidFill>
                  <a:srgbClr val="A6B2C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6B2C3"/>
                </a:solidFill>
                <a:latin typeface="Arial"/>
                <a:ea typeface="Arial"/>
                <a:cs typeface="Arial"/>
              </a:rPr>
              <a:t>constraints, context</a:t>
            </a:r>
          </a:p>
        </p:txBody>
      </p:sp>
      <p:sp>
        <p:nvSpPr>
          <p:cNvPr id="6" name="step-2-heading">
            <a:extLst xmlns:a="http://schemas.openxmlformats.org/drawingml/2006/main">
              <a:ext uri="{FF2B5EF4-FFF2-40B4-BE49-F238E27FC236}">
                <a16:creationId xmlns:a16="http://schemas.microsoft.com/office/drawing/2014/main" id="{8A5229EA-D3B6-4438-B1B6-CF17BD4DA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33625"/>
            <a:ext cx="2047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2  Retrieve</a:t>
            </a:r>
          </a:p>
        </p:txBody>
      </p:sp>
      <p:sp>
        <p:nvSpPr>
          <p:cNvPr id="7" name="step-2-body">
            <a:extLst xmlns:a="http://schemas.openxmlformats.org/drawingml/2006/main">
              <a:ext uri="{FF2B5EF4-FFF2-40B4-BE49-F238E27FC236}">
                <a16:creationId xmlns:a16="http://schemas.microsoft.com/office/drawing/2014/main" id="{CB3837B3-B357-4B6F-B028-3CE806962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14650"/>
            <a:ext cx="2047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A6B2C3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A6B2C3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A6B2C3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A6B2C3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A6B2C3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A6B2C3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A6B2C3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A6B2C3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A6B2C3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A6B2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A6B2C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6B2C3"/>
                </a:solidFill>
                <a:latin typeface="Arial"/>
                <a:ea typeface="Arial"/>
                <a:cs typeface="Arial"/>
              </a:rPr>
              <a:t>SQLite FTS over</a:t>
            </a:r>
          </a:p>
          <a:p xmlns:a="http://schemas.openxmlformats.org/drawingml/2006/main">
            <a:pPr algn="l">
              <a:defRPr sz="1575" b="0">
                <a:solidFill>
                  <a:srgbClr val="A6B2C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6B2C3"/>
                </a:solidFill>
                <a:latin typeface="Arial"/>
                <a:ea typeface="Arial"/>
                <a:cs typeface="Arial"/>
              </a:rPr>
              <a:t>products or policy</a:t>
            </a:r>
          </a:p>
        </p:txBody>
      </p:sp>
      <p:sp>
        <p:nvSpPr>
          <p:cNvPr id="8" name="step-3-heading">
            <a:extLst xmlns:a="http://schemas.openxmlformats.org/drawingml/2006/main">
              <a:ext uri="{FF2B5EF4-FFF2-40B4-BE49-F238E27FC236}">
                <a16:creationId xmlns:a16="http://schemas.microsoft.com/office/drawing/2014/main" id="{8E352739-32B5-4890-A910-577CFE5E7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333625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B981"/>
                </a:solidFill>
                <a:latin typeface="Arial"/>
                <a:ea typeface="Arial"/>
                <a:cs typeface="Arial"/>
              </a:rPr>
              <a:t>3  Enforce</a:t>
            </a:r>
          </a:p>
        </p:txBody>
      </p:sp>
      <p:sp>
        <p:nvSpPr>
          <p:cNvPr id="9" name="step-3-body">
            <a:extLst xmlns:a="http://schemas.openxmlformats.org/drawingml/2006/main">
              <a:ext uri="{FF2B5EF4-FFF2-40B4-BE49-F238E27FC236}">
                <a16:creationId xmlns:a16="http://schemas.microsoft.com/office/drawing/2014/main" id="{BD73A0D8-3F41-4840-8F8D-71E10942E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914650"/>
            <a:ext cx="2095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A6B2C3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A6B2C3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A6B2C3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A6B2C3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A6B2C3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A6B2C3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A6B2C3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A6B2C3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A6B2C3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A6B2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A6B2C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6B2C3"/>
                </a:solidFill>
                <a:latin typeface="Arial"/>
                <a:ea typeface="Arial"/>
                <a:cs typeface="Arial"/>
              </a:rPr>
              <a:t>Hard filters and</a:t>
            </a:r>
          </a:p>
          <a:p xmlns:a="http://schemas.openxmlformats.org/drawingml/2006/main">
            <a:pPr algn="l">
              <a:defRPr sz="1575" b="0">
                <a:solidFill>
                  <a:srgbClr val="A6B2C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6B2C3"/>
                </a:solidFill>
                <a:latin typeface="Arial"/>
                <a:ea typeface="Arial"/>
                <a:cs typeface="Arial"/>
              </a:rPr>
              <a:t>claim validation</a:t>
            </a:r>
          </a:p>
        </p:txBody>
      </p:sp>
      <p:sp>
        <p:nvSpPr>
          <p:cNvPr id="10" name="step-4-heading">
            <a:extLst xmlns:a="http://schemas.openxmlformats.org/drawingml/2006/main">
              <a:ext uri="{FF2B5EF4-FFF2-40B4-BE49-F238E27FC236}">
                <a16:creationId xmlns:a16="http://schemas.microsoft.com/office/drawing/2014/main" id="{41FB0039-6DE8-4C9B-8489-8A378E654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33625"/>
            <a:ext cx="2333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4  Respond</a:t>
            </a:r>
          </a:p>
        </p:txBody>
      </p:sp>
      <p:sp>
        <p:nvSpPr>
          <p:cNvPr id="11" name="step-4-body">
            <a:extLst xmlns:a="http://schemas.openxmlformats.org/drawingml/2006/main">
              <a:ext uri="{FF2B5EF4-FFF2-40B4-BE49-F238E27FC236}">
                <a16:creationId xmlns:a16="http://schemas.microsoft.com/office/drawing/2014/main" id="{E6F35B0A-33A2-4DD5-8132-C80F9C429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14650"/>
            <a:ext cx="2333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A6B2C3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A6B2C3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A6B2C3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A6B2C3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A6B2C3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A6B2C3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A6B2C3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A6B2C3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A6B2C3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A6B2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A6B2C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6B2C3"/>
                </a:solidFill>
                <a:latin typeface="Arial"/>
                <a:ea typeface="Arial"/>
                <a:cs typeface="Arial"/>
              </a:rPr>
              <a:t>Answer, clarify,</a:t>
            </a:r>
          </a:p>
          <a:p xmlns:a="http://schemas.openxmlformats.org/drawingml/2006/main">
            <a:pPr algn="l">
              <a:defRPr sz="1575" b="0">
                <a:solidFill>
                  <a:srgbClr val="A6B2C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6B2C3"/>
                </a:solidFill>
                <a:latin typeface="Arial"/>
                <a:ea typeface="Arial"/>
                <a:cs typeface="Arial"/>
              </a:rPr>
              <a:t>or refuse</a:t>
            </a:r>
          </a:p>
        </p:txBody>
      </p:sp>
      <p:sp>
        <p:nvSpPr>
          <p:cNvPr id="12" name="arrow-1">
            <a:extLst xmlns:a="http://schemas.openxmlformats.org/drawingml/2006/main">
              <a:ext uri="{FF2B5EF4-FFF2-40B4-BE49-F238E27FC236}">
                <a16:creationId xmlns:a16="http://schemas.microsoft.com/office/drawing/2014/main" id="{3A9DE332-6A9A-4B05-B4E0-0D9BB8BF8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00300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137"/>
          </a:bodyPr>
          <a:lstStyle xmlns:a="http://schemas.openxmlformats.org/drawingml/2006/main">
            <a:defPPr algn="ctr">
              <a:defRPr sz="25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defPPr>
            <a:lvl1pPr algn="ctr">
              <a:defRPr sz="25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lvl1pPr>
            <a:lvl2pPr algn="ctr">
              <a:defRPr sz="25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lvl2pPr>
            <a:lvl3pPr algn="ctr">
              <a:defRPr sz="25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lvl3pPr>
            <a:lvl4pPr algn="ctr">
              <a:defRPr sz="25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lvl4pPr>
            <a:lvl5pPr algn="ctr">
              <a:defRPr sz="25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lvl5pPr>
            <a:lvl6pPr algn="ctr">
              <a:defRPr sz="25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lvl6pPr>
            <a:lvl7pPr algn="ctr">
              <a:defRPr sz="25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lvl7pPr>
            <a:lvl8pPr algn="ctr">
              <a:defRPr sz="25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lvl8pPr>
            <a:lvl9pPr algn="ctr">
              <a:defRPr sz="25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arrow-2">
            <a:extLst xmlns:a="http://schemas.openxmlformats.org/drawingml/2006/main">
              <a:ext uri="{FF2B5EF4-FFF2-40B4-BE49-F238E27FC236}">
                <a16:creationId xmlns:a16="http://schemas.microsoft.com/office/drawing/2014/main" id="{D2C78374-7000-4550-8F69-FF7BD28E5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400300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137"/>
          </a:bodyPr>
          <a:lstStyle xmlns:a="http://schemas.openxmlformats.org/drawingml/2006/main">
            <a:defPPr algn="ctr">
              <a:defRPr sz="25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defPPr>
            <a:lvl1pPr algn="ctr">
              <a:defRPr sz="25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lvl1pPr>
            <a:lvl2pPr algn="ctr">
              <a:defRPr sz="25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lvl2pPr>
            <a:lvl3pPr algn="ctr">
              <a:defRPr sz="25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lvl3pPr>
            <a:lvl4pPr algn="ctr">
              <a:defRPr sz="25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lvl4pPr>
            <a:lvl5pPr algn="ctr">
              <a:defRPr sz="25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lvl5pPr>
            <a:lvl6pPr algn="ctr">
              <a:defRPr sz="25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lvl6pPr>
            <a:lvl7pPr algn="ctr">
              <a:defRPr sz="25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lvl7pPr>
            <a:lvl8pPr algn="ctr">
              <a:defRPr sz="25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lvl8pPr>
            <a:lvl9pPr algn="ctr">
              <a:defRPr sz="25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arrow-3">
            <a:extLst xmlns:a="http://schemas.openxmlformats.org/drawingml/2006/main">
              <a:ext uri="{FF2B5EF4-FFF2-40B4-BE49-F238E27FC236}">
                <a16:creationId xmlns:a16="http://schemas.microsoft.com/office/drawing/2014/main" id="{DA71DFED-5A98-46DD-A363-8D834A97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00300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137"/>
          </a:bodyPr>
          <a:lstStyle xmlns:a="http://schemas.openxmlformats.org/drawingml/2006/main">
            <a:defPPr algn="ctr">
              <a:defRPr sz="25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defPPr>
            <a:lvl1pPr algn="ctr">
              <a:defRPr sz="25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lvl1pPr>
            <a:lvl2pPr algn="ctr">
              <a:defRPr sz="25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lvl2pPr>
            <a:lvl3pPr algn="ctr">
              <a:defRPr sz="25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lvl3pPr>
            <a:lvl4pPr algn="ctr">
              <a:defRPr sz="25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lvl4pPr>
            <a:lvl5pPr algn="ctr">
              <a:defRPr sz="25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lvl5pPr>
            <a:lvl6pPr algn="ctr">
              <a:defRPr sz="25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lvl6pPr>
            <a:lvl7pPr algn="ctr">
              <a:defRPr sz="25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lvl7pPr>
            <a:lvl8pPr algn="ctr">
              <a:defRPr sz="25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lvl8pPr>
            <a:lvl9pPr algn="ctr">
              <a:defRPr sz="25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architecture-note">
            <a:extLst xmlns:a="http://schemas.openxmlformats.org/drawingml/2006/main">
              <a:ext uri="{FF2B5EF4-FFF2-40B4-BE49-F238E27FC236}">
                <a16:creationId xmlns:a16="http://schemas.microsoft.com/office/drawing/2014/main" id="{3951CE93-EB57-4C81-B5F1-0C653460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48200"/>
            <a:ext cx="1028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Current implementation: lexical retrieval, deterministic rules, template-generated responses. Product hard filters are applied before cards are returned.</a:t>
            </a:r>
          </a:p>
        </p:txBody>
      </p:sp>
      <p:sp>
        <p:nvSpPr>
          <p:cNvPr id="16" name="architecture-limit">
            <a:extLst xmlns:a="http://schemas.openxmlformats.org/drawingml/2006/main">
              <a:ext uri="{FF2B5EF4-FFF2-40B4-BE49-F238E27FC236}">
                <a16:creationId xmlns:a16="http://schemas.microsoft.com/office/drawing/2014/main" id="{42D95B1F-BDA5-4460-AF72-64FD7DD54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435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No semantic retrieval or paid API is part of this demo build.</a:t>
            </a:r>
          </a:p>
        </p:txBody>
      </p:sp>
    </p:spTree>
    <p:extLst>
      <p:ext uri="{BB962C8B-B14F-4D97-AF65-F5344CB8AC3E}">
        <p14:creationId xmlns:p14="http://schemas.microsoft.com/office/powerpoint/2010/main" val="2242148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7FCB701-0AED-43A7-B4FE-59D128615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525" b="1">
                <a:solidFill>
                  <a:srgbClr val="0A0F19"/>
                </a:solidFill>
                <a:latin typeface="Arial"/>
                <a:ea typeface="Arial"/>
                <a:cs typeface="Arial"/>
              </a:defRPr>
            </a:defPPr>
            <a:lvl1pPr algn="l">
              <a:defRPr sz="3525" b="1">
                <a:solidFill>
                  <a:srgbClr val="0A0F19"/>
                </a:solidFill>
                <a:latin typeface="Arial"/>
                <a:ea typeface="Arial"/>
                <a:cs typeface="Arial"/>
              </a:defRPr>
            </a:lvl1pPr>
            <a:lvl2pPr algn="l">
              <a:defRPr sz="3525" b="1">
                <a:solidFill>
                  <a:srgbClr val="0A0F19"/>
                </a:solidFill>
                <a:latin typeface="Arial"/>
                <a:ea typeface="Arial"/>
                <a:cs typeface="Arial"/>
              </a:defRPr>
            </a:lvl2pPr>
            <a:lvl3pPr algn="l">
              <a:defRPr sz="3525" b="1">
                <a:solidFill>
                  <a:srgbClr val="0A0F19"/>
                </a:solidFill>
                <a:latin typeface="Arial"/>
                <a:ea typeface="Arial"/>
                <a:cs typeface="Arial"/>
              </a:defRPr>
            </a:lvl3pPr>
            <a:lvl4pPr algn="l">
              <a:defRPr sz="3525" b="1">
                <a:solidFill>
                  <a:srgbClr val="0A0F19"/>
                </a:solidFill>
                <a:latin typeface="Arial"/>
                <a:ea typeface="Arial"/>
                <a:cs typeface="Arial"/>
              </a:defRPr>
            </a:lvl4pPr>
            <a:lvl5pPr algn="l">
              <a:defRPr sz="3525" b="1">
                <a:solidFill>
                  <a:srgbClr val="0A0F19"/>
                </a:solidFill>
                <a:latin typeface="Arial"/>
                <a:ea typeface="Arial"/>
                <a:cs typeface="Arial"/>
              </a:defRPr>
            </a:lvl5pPr>
            <a:lvl6pPr algn="l">
              <a:defRPr sz="3525" b="1">
                <a:solidFill>
                  <a:srgbClr val="0A0F19"/>
                </a:solidFill>
                <a:latin typeface="Arial"/>
                <a:ea typeface="Arial"/>
                <a:cs typeface="Arial"/>
              </a:defRPr>
            </a:lvl6pPr>
            <a:lvl7pPr algn="l">
              <a:defRPr sz="3525" b="1">
                <a:solidFill>
                  <a:srgbClr val="0A0F19"/>
                </a:solidFill>
                <a:latin typeface="Arial"/>
                <a:ea typeface="Arial"/>
                <a:cs typeface="Arial"/>
              </a:defRPr>
            </a:lvl7pPr>
            <a:lvl8pPr algn="l">
              <a:defRPr sz="3525" b="1">
                <a:solidFill>
                  <a:srgbClr val="0A0F19"/>
                </a:solidFill>
                <a:latin typeface="Arial"/>
                <a:ea typeface="Arial"/>
                <a:cs typeface="Arial"/>
              </a:defRPr>
            </a:lvl8pPr>
            <a:lvl9pPr algn="l">
              <a:defRPr sz="3525" b="1">
                <a:solidFill>
                  <a:srgbClr val="0A0F1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525" b="1">
                <a:solidFill>
                  <a:srgbClr val="0A0F19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0A0F19"/>
                </a:solidFill>
                <a:latin typeface="Arial"/>
                <a:ea typeface="Arial"/>
                <a:cs typeface="Arial"/>
              </a:rPr>
              <a:t>A follow-up keeps the shopper’s constraints</a:t>
            </a:r>
          </a:p>
        </p:txBody>
      </p:sp>
      <p:sp>
        <p:nvSpPr>
          <p:cNvPr id="2" name="footer">
            <a:extLst xmlns:a="http://schemas.openxmlformats.org/drawingml/2006/main">
              <a:ext uri="{FF2B5EF4-FFF2-40B4-BE49-F238E27FC236}">
                <a16:creationId xmlns:a16="http://schemas.microsoft.com/office/drawing/2014/main" id="{93D70AE0-CB7D-4C0D-A0E7-2DB702353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800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75569"/>
                </a:solidFill>
                <a:latin typeface="Arial"/>
                <a:ea typeface="Arial"/>
                <a:cs typeface="Arial"/>
              </a:rPr>
              <a:t>TRUTHCART AI  •  CURRENT DEMO BUILD  •  18 OCT 2026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CFEBE9EE-4048-4402-98A8-8FB4A66F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38900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04 / 06</a:t>
            </a:r>
          </a:p>
        </p:txBody>
      </p:sp>
      <p:sp>
        <p:nvSpPr>
          <p:cNvPr id="4" name="demo-query-one">
            <a:extLst xmlns:a="http://schemas.openxmlformats.org/drawingml/2006/main">
              <a:ext uri="{FF2B5EF4-FFF2-40B4-BE49-F238E27FC236}">
                <a16:creationId xmlns:a16="http://schemas.microsoft.com/office/drawing/2014/main" id="{70F2A6B6-CC58-43B8-AD3A-0B27A9C5A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859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0A0F19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0A0F19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0A0F19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0A0F19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0A0F19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0A0F19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0A0F19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0A0F19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0A0F19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0A0F1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A0F1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A0F19"/>
                </a:solidFill>
                <a:latin typeface="Arial"/>
                <a:ea typeface="Arial"/>
                <a:cs typeface="Arial"/>
              </a:rPr>
              <a:t>“Show me black shoes under ₹2,000”</a:t>
            </a:r>
          </a:p>
        </p:txBody>
      </p:sp>
      <p:sp>
        <p:nvSpPr>
          <p:cNvPr id="5" name="demo-result-one">
            <a:extLst xmlns:a="http://schemas.openxmlformats.org/drawingml/2006/main">
              <a:ext uri="{FF2B5EF4-FFF2-40B4-BE49-F238E27FC236}">
                <a16:creationId xmlns:a16="http://schemas.microsoft.com/office/drawing/2014/main" id="{39D34F89-4878-4148-A5CA-F25E02BA7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2882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01623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01623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01623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01623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01623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01623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01623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01623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01623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0162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0162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623"/>
                </a:solidFill>
                <a:latin typeface="Arial"/>
                <a:ea typeface="Arial"/>
                <a:cs typeface="Arial"/>
              </a:rPr>
              <a:t>5 catalogue matches — including one out-of-stock item and one with unknown stock.</a:t>
            </a:r>
          </a:p>
        </p:txBody>
      </p:sp>
      <p:sp>
        <p:nvSpPr>
          <p:cNvPr id="6" name="demo-query-two">
            <a:extLst xmlns:a="http://schemas.openxmlformats.org/drawingml/2006/main">
              <a:ext uri="{FF2B5EF4-FFF2-40B4-BE49-F238E27FC236}">
                <a16:creationId xmlns:a16="http://schemas.microsoft.com/office/drawing/2014/main" id="{55270D67-E408-4374-91EF-9CD4C1C04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087F5B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087F5B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087F5B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087F5B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087F5B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087F5B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087F5B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087F5B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087F5B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087F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F5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F5B"/>
                </a:solidFill>
                <a:latin typeface="Arial"/>
                <a:ea typeface="Arial"/>
                <a:cs typeface="Arial"/>
              </a:rPr>
              <a:t>“Only in stock”</a:t>
            </a:r>
          </a:p>
        </p:txBody>
      </p:sp>
      <p:sp>
        <p:nvSpPr>
          <p:cNvPr id="7" name="demo-result-two">
            <a:extLst xmlns:a="http://schemas.openxmlformats.org/drawingml/2006/main">
              <a:ext uri="{FF2B5EF4-FFF2-40B4-BE49-F238E27FC236}">
                <a16:creationId xmlns:a16="http://schemas.microsoft.com/office/drawing/2014/main" id="{69260F9F-FAE9-4785-AFFA-532C5E9C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01623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01623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01623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01623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01623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01623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01623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01623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01623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0162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0162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623"/>
                </a:solidFill>
                <a:latin typeface="Arial"/>
                <a:ea typeface="Arial"/>
                <a:cs typeface="Arial"/>
              </a:rPr>
              <a:t>3 remain. Footwear, black colour, and the under-₹2,000 ceiling stay active.</a:t>
            </a:r>
          </a:p>
        </p:txBody>
      </p:sp>
      <p:sp>
        <p:nvSpPr>
          <p:cNvPr id="8" name="demo-products">
            <a:extLst xmlns:a="http://schemas.openxmlformats.org/drawingml/2006/main">
              <a:ext uri="{FF2B5EF4-FFF2-40B4-BE49-F238E27FC236}">
                <a16:creationId xmlns:a16="http://schemas.microsoft.com/office/drawing/2014/main" id="{5778D04A-B168-41BE-9A61-112B13C19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10287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0A0F19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0A0F19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0A0F19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0A0F19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0A0F19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0A0F19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0A0F19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0A0F19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0A0F19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0A0F1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0A0F1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A0F19"/>
                </a:solidFill>
                <a:latin typeface="Arial"/>
                <a:ea typeface="Arial"/>
                <a:cs typeface="Arial"/>
              </a:rPr>
              <a:t>RoadRun Men’s Black Running Shoes  —  ₹1,499</a:t>
            </a:r>
          </a:p>
          <a:p xmlns:a="http://schemas.openxmlformats.org/drawingml/2006/main">
            <a:pPr algn="l">
              <a:defRPr sz="1800" b="0">
                <a:solidFill>
                  <a:srgbClr val="0A0F1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A0F19"/>
                </a:solidFill>
                <a:latin typeface="Arial"/>
                <a:ea typeface="Arial"/>
                <a:cs typeface="Arial"/>
              </a:rPr>
              <a:t>WalkEase Black Casual Loafers  —  ₹1,899</a:t>
            </a:r>
          </a:p>
          <a:p xmlns:a="http://schemas.openxmlformats.org/drawingml/2006/main">
            <a:pPr algn="l">
              <a:defRPr sz="1800" b="0">
                <a:solidFill>
                  <a:srgbClr val="0A0F1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A0F19"/>
                </a:solidFill>
                <a:latin typeface="Arial"/>
                <a:ea typeface="Arial"/>
                <a:cs typeface="Arial"/>
              </a:rPr>
              <a:t>AcroPace Black Canvas Sneakers  —  ₹1,299</a:t>
            </a:r>
          </a:p>
        </p:txBody>
      </p:sp>
      <p:sp>
        <p:nvSpPr>
          <p:cNvPr id="9" name="demo-proof-note">
            <a:extLst xmlns:a="http://schemas.openxmlformats.org/drawingml/2006/main">
              <a:ext uri="{FF2B5EF4-FFF2-40B4-BE49-F238E27FC236}">
                <a16:creationId xmlns:a16="http://schemas.microsoft.com/office/drawing/2014/main" id="{25D04BD0-78F7-4418-9D05-B4A1C140D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007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Observed through the real handler on the current 31-product fixture; the “budget → in stock” flow is also an active evaluation case.</a:t>
            </a:r>
          </a:p>
        </p:txBody>
      </p:sp>
    </p:spTree>
    <p:extLst>
      <p:ext uri="{BB962C8B-B14F-4D97-AF65-F5344CB8AC3E}">
        <p14:creationId xmlns:p14="http://schemas.microsoft.com/office/powerpoint/2010/main" val="15611284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A0F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04BDF19-EEED-43C4-8A62-18746989F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5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  <a:lvl1pPr algn="l">
              <a:defRPr sz="35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1pPr>
            <a:lvl2pPr algn="l">
              <a:defRPr sz="35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2pPr>
            <a:lvl3pPr algn="l">
              <a:defRPr sz="35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3pPr>
            <a:lvl4pPr algn="l">
              <a:defRPr sz="35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4pPr>
            <a:lvl5pPr algn="l">
              <a:defRPr sz="35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5pPr>
            <a:lvl6pPr algn="l">
              <a:defRPr sz="35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6pPr>
            <a:lvl7pPr algn="l">
              <a:defRPr sz="35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7pPr>
            <a:lvl8pPr algn="l">
              <a:defRPr sz="35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8pPr>
            <a:lvl9pPr algn="l">
              <a:defRPr sz="35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5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Trust behaviors are testable</a:t>
            </a:r>
          </a:p>
        </p:txBody>
      </p:sp>
      <p:sp>
        <p:nvSpPr>
          <p:cNvPr id="2" name="footer">
            <a:extLst xmlns:a="http://schemas.openxmlformats.org/drawingml/2006/main">
              <a:ext uri="{FF2B5EF4-FFF2-40B4-BE49-F238E27FC236}">
                <a16:creationId xmlns:a16="http://schemas.microsoft.com/office/drawing/2014/main" id="{3ED7CCB7-5C3B-45FF-AC00-1430A3D59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800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A6B2C3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A6B2C3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A6B2C3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A6B2C3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A6B2C3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A6B2C3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A6B2C3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A6B2C3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A6B2C3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A6B2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A6B2C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6B2C3"/>
                </a:solidFill>
                <a:latin typeface="Arial"/>
                <a:ea typeface="Arial"/>
                <a:cs typeface="Arial"/>
              </a:rPr>
              <a:t>TRUTHCART AI  •  CURRENT DEMO BUILD  •  18 OCT 2026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F9EF18EC-C9FA-45FD-9721-CCB0105DF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38900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A6B2C3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0">
                <a:solidFill>
                  <a:srgbClr val="A6B2C3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0">
                <a:solidFill>
                  <a:srgbClr val="A6B2C3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0">
                <a:solidFill>
                  <a:srgbClr val="A6B2C3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0">
                <a:solidFill>
                  <a:srgbClr val="A6B2C3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0">
                <a:solidFill>
                  <a:srgbClr val="A6B2C3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0">
                <a:solidFill>
                  <a:srgbClr val="A6B2C3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0">
                <a:solidFill>
                  <a:srgbClr val="A6B2C3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0">
                <a:solidFill>
                  <a:srgbClr val="A6B2C3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0">
                <a:solidFill>
                  <a:srgbClr val="A6B2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A6B2C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6B2C3"/>
                </a:solidFill>
                <a:latin typeface="Arial"/>
                <a:ea typeface="Arial"/>
                <a:cs typeface="Arial"/>
              </a:rPr>
              <a:t>05 / 06</a:t>
            </a:r>
          </a:p>
        </p:txBody>
      </p:sp>
      <p:sp>
        <p:nvSpPr>
          <p:cNvPr id="4" name="trust-label-0">
            <a:extLst xmlns:a="http://schemas.openxmlformats.org/drawingml/2006/main">
              <a:ext uri="{FF2B5EF4-FFF2-40B4-BE49-F238E27FC236}">
                <a16:creationId xmlns:a16="http://schemas.microsoft.com/office/drawing/2014/main" id="{DA3F043E-7AE0-4CB6-9F15-CB3D6D167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B981"/>
                </a:solidFill>
                <a:latin typeface="Arial"/>
                <a:ea typeface="Arial"/>
                <a:cs typeface="Arial"/>
              </a:rPr>
              <a:t>PRODUCT</a:t>
            </a:r>
          </a:p>
        </p:txBody>
      </p:sp>
      <p:sp>
        <p:nvSpPr>
          <p:cNvPr id="5" name="trust-copy-0">
            <a:extLst xmlns:a="http://schemas.openxmlformats.org/drawingml/2006/main">
              <a:ext uri="{FF2B5EF4-FFF2-40B4-BE49-F238E27FC236}">
                <a16:creationId xmlns:a16="http://schemas.microsoft.com/office/drawing/2014/main" id="{6A0ACA9D-9129-469E-AB50-1EB822A55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447800"/>
            <a:ext cx="890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Product claims cite catalogue fields and product IDs.</a:t>
            </a:r>
          </a:p>
        </p:txBody>
      </p:sp>
      <p:sp>
        <p:nvSpPr>
          <p:cNvPr id="6" name="trust-label-1">
            <a:extLst xmlns:a="http://schemas.openxmlformats.org/drawingml/2006/main">
              <a:ext uri="{FF2B5EF4-FFF2-40B4-BE49-F238E27FC236}">
                <a16:creationId xmlns:a16="http://schemas.microsoft.com/office/drawing/2014/main" id="{0C1AC9FB-439F-4819-AC14-9854AB1CF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B981"/>
                </a:solidFill>
                <a:latin typeface="Arial"/>
                <a:ea typeface="Arial"/>
                <a:cs typeface="Arial"/>
              </a:rPr>
              <a:t>POLICY</a:t>
            </a:r>
          </a:p>
        </p:txBody>
      </p:sp>
      <p:sp>
        <p:nvSpPr>
          <p:cNvPr id="7" name="trust-copy-1">
            <a:extLst xmlns:a="http://schemas.openxmlformats.org/drawingml/2006/main">
              <a:ext uri="{FF2B5EF4-FFF2-40B4-BE49-F238E27FC236}">
                <a16:creationId xmlns:a16="http://schemas.microsoft.com/office/drawing/2014/main" id="{6E798D93-CBB2-43D0-969A-556590262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152650"/>
            <a:ext cx="890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Policy answers cite supplied sections, such as [policy:1.1].</a:t>
            </a:r>
          </a:p>
        </p:txBody>
      </p:sp>
      <p:sp>
        <p:nvSpPr>
          <p:cNvPr id="8" name="trust-label-2">
            <a:extLst xmlns:a="http://schemas.openxmlformats.org/drawingml/2006/main">
              <a:ext uri="{FF2B5EF4-FFF2-40B4-BE49-F238E27FC236}">
                <a16:creationId xmlns:a16="http://schemas.microsoft.com/office/drawing/2014/main" id="{EE436103-8047-45A7-B341-EC5762DDD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65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B981"/>
                </a:solidFill>
                <a:latin typeface="Arial"/>
                <a:ea typeface="Arial"/>
                <a:cs typeface="Arial"/>
              </a:rPr>
              <a:t>CLARIFY</a:t>
            </a:r>
          </a:p>
        </p:txBody>
      </p:sp>
      <p:sp>
        <p:nvSpPr>
          <p:cNvPr id="9" name="trust-copy-2">
            <a:extLst xmlns:a="http://schemas.openxmlformats.org/drawingml/2006/main">
              <a:ext uri="{FF2B5EF4-FFF2-40B4-BE49-F238E27FC236}">
                <a16:creationId xmlns:a16="http://schemas.microsoft.com/office/drawing/2014/main" id="{AD23106B-88AE-490B-B4D7-BEF32BC8C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857500"/>
            <a:ext cx="890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A tied “blue running shoe” query gets three grounded options, not a guessed price.</a:t>
            </a:r>
          </a:p>
        </p:txBody>
      </p:sp>
      <p:sp>
        <p:nvSpPr>
          <p:cNvPr id="10" name="trust-label-3">
            <a:extLst xmlns:a="http://schemas.openxmlformats.org/drawingml/2006/main">
              <a:ext uri="{FF2B5EF4-FFF2-40B4-BE49-F238E27FC236}">
                <a16:creationId xmlns:a16="http://schemas.microsoft.com/office/drawing/2014/main" id="{D9F7FBF7-1D6A-4236-8E43-65348E0A3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B981"/>
                </a:solidFill>
                <a:latin typeface="Arial"/>
                <a:ea typeface="Arial"/>
                <a:cs typeface="Arial"/>
              </a:rPr>
              <a:t>REFUSE</a:t>
            </a:r>
          </a:p>
        </p:txBody>
      </p:sp>
      <p:sp>
        <p:nvSpPr>
          <p:cNvPr id="11" name="trust-copy-3">
            <a:extLst xmlns:a="http://schemas.openxmlformats.org/drawingml/2006/main">
              <a:ext uri="{FF2B5EF4-FFF2-40B4-BE49-F238E27FC236}">
                <a16:creationId xmlns:a16="http://schemas.microsoft.com/office/drawing/2014/main" id="{337BC792-E33A-443E-9D7B-89382B440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562350"/>
            <a:ext cx="890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An order request gets a fact-free refusal; no order capability is implied.</a:t>
            </a:r>
          </a:p>
        </p:txBody>
      </p:sp>
      <p:sp>
        <p:nvSpPr>
          <p:cNvPr id="12" name="eval-label">
            <a:extLst xmlns:a="http://schemas.openxmlformats.org/drawingml/2006/main">
              <a:ext uri="{FF2B5EF4-FFF2-40B4-BE49-F238E27FC236}">
                <a16:creationId xmlns:a16="http://schemas.microsoft.com/office/drawing/2014/main" id="{01DFD006-C5AF-4A81-8063-BE0CABE63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VERIFIED ON 18 OCT 2026</a:t>
            </a:r>
          </a:p>
        </p:txBody>
      </p:sp>
      <p:sp>
        <p:nvSpPr>
          <p:cNvPr id="13" name="eval-line-one">
            <a:extLst xmlns:a="http://schemas.openxmlformats.org/drawingml/2006/main">
              <a:ext uri="{FF2B5EF4-FFF2-40B4-BE49-F238E27FC236}">
                <a16:creationId xmlns:a16="http://schemas.microsoft.com/office/drawing/2014/main" id="{185C9198-53DB-4EA9-AA11-3EBC61A7B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387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290 backend tests passed  •  30/30 active evaluation cases passed  •  2 known gaps remain</a:t>
            </a:r>
          </a:p>
        </p:txBody>
      </p:sp>
      <p:sp>
        <p:nvSpPr>
          <p:cNvPr id="14" name="eval-line-two">
            <a:extLst xmlns:a="http://schemas.openxmlformats.org/drawingml/2006/main">
              <a:ext uri="{FF2B5EF4-FFF2-40B4-BE49-F238E27FC236}">
                <a16:creationId xmlns:a16="http://schemas.microsoft.com/office/drawing/2014/main" id="{EDB86F11-8ADC-4D67-A942-E7CABC454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149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6B2C3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A6B2C3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A6B2C3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A6B2C3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A6B2C3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A6B2C3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A6B2C3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A6B2C3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A6B2C3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A6B2C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6B2C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6B2C3"/>
                </a:solidFill>
                <a:latin typeface="Arial"/>
                <a:ea typeface="Arial"/>
                <a:cs typeface="Arial"/>
              </a:rPr>
              <a:t>G-AC-01: 17/17  •  G-AC-03: 0 validator trips  •  0 price-hallucination findings  •  0 critical-grounding findings</a:t>
            </a:r>
          </a:p>
        </p:txBody>
      </p:sp>
    </p:spTree>
    <p:extLst>
      <p:ext uri="{BB962C8B-B14F-4D97-AF65-F5344CB8AC3E}">
        <p14:creationId xmlns:p14="http://schemas.microsoft.com/office/powerpoint/2010/main" val="689071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7C7386C-A0DE-483F-9867-B8B6C8C3C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525" b="1">
                <a:solidFill>
                  <a:srgbClr val="0A0F19"/>
                </a:solidFill>
                <a:latin typeface="Arial"/>
                <a:ea typeface="Arial"/>
                <a:cs typeface="Arial"/>
              </a:defRPr>
            </a:defPPr>
            <a:lvl1pPr algn="l">
              <a:defRPr sz="3525" b="1">
                <a:solidFill>
                  <a:srgbClr val="0A0F19"/>
                </a:solidFill>
                <a:latin typeface="Arial"/>
                <a:ea typeface="Arial"/>
                <a:cs typeface="Arial"/>
              </a:defRPr>
            </a:lvl1pPr>
            <a:lvl2pPr algn="l">
              <a:defRPr sz="3525" b="1">
                <a:solidFill>
                  <a:srgbClr val="0A0F19"/>
                </a:solidFill>
                <a:latin typeface="Arial"/>
                <a:ea typeface="Arial"/>
                <a:cs typeface="Arial"/>
              </a:defRPr>
            </a:lvl2pPr>
            <a:lvl3pPr algn="l">
              <a:defRPr sz="3525" b="1">
                <a:solidFill>
                  <a:srgbClr val="0A0F19"/>
                </a:solidFill>
                <a:latin typeface="Arial"/>
                <a:ea typeface="Arial"/>
                <a:cs typeface="Arial"/>
              </a:defRPr>
            </a:lvl3pPr>
            <a:lvl4pPr algn="l">
              <a:defRPr sz="3525" b="1">
                <a:solidFill>
                  <a:srgbClr val="0A0F19"/>
                </a:solidFill>
                <a:latin typeface="Arial"/>
                <a:ea typeface="Arial"/>
                <a:cs typeface="Arial"/>
              </a:defRPr>
            </a:lvl4pPr>
            <a:lvl5pPr algn="l">
              <a:defRPr sz="3525" b="1">
                <a:solidFill>
                  <a:srgbClr val="0A0F19"/>
                </a:solidFill>
                <a:latin typeface="Arial"/>
                <a:ea typeface="Arial"/>
                <a:cs typeface="Arial"/>
              </a:defRPr>
            </a:lvl5pPr>
            <a:lvl6pPr algn="l">
              <a:defRPr sz="3525" b="1">
                <a:solidFill>
                  <a:srgbClr val="0A0F19"/>
                </a:solidFill>
                <a:latin typeface="Arial"/>
                <a:ea typeface="Arial"/>
                <a:cs typeface="Arial"/>
              </a:defRPr>
            </a:lvl6pPr>
            <a:lvl7pPr algn="l">
              <a:defRPr sz="3525" b="1">
                <a:solidFill>
                  <a:srgbClr val="0A0F19"/>
                </a:solidFill>
                <a:latin typeface="Arial"/>
                <a:ea typeface="Arial"/>
                <a:cs typeface="Arial"/>
              </a:defRPr>
            </a:lvl7pPr>
            <a:lvl8pPr algn="l">
              <a:defRPr sz="3525" b="1">
                <a:solidFill>
                  <a:srgbClr val="0A0F19"/>
                </a:solidFill>
                <a:latin typeface="Arial"/>
                <a:ea typeface="Arial"/>
                <a:cs typeface="Arial"/>
              </a:defRPr>
            </a:lvl8pPr>
            <a:lvl9pPr algn="l">
              <a:defRPr sz="3525" b="1">
                <a:solidFill>
                  <a:srgbClr val="0A0F1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525" b="1">
                <a:solidFill>
                  <a:srgbClr val="0A0F19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0A0F19"/>
                </a:solidFill>
                <a:latin typeface="Arial"/>
                <a:ea typeface="Arial"/>
                <a:cs typeface="Arial"/>
              </a:rPr>
              <a:t>Demo scope and the next proof</a:t>
            </a:r>
          </a:p>
        </p:txBody>
      </p:sp>
      <p:sp>
        <p:nvSpPr>
          <p:cNvPr id="2" name="footer">
            <a:extLst xmlns:a="http://schemas.openxmlformats.org/drawingml/2006/main">
              <a:ext uri="{FF2B5EF4-FFF2-40B4-BE49-F238E27FC236}">
                <a16:creationId xmlns:a16="http://schemas.microsoft.com/office/drawing/2014/main" id="{9B46583D-67CE-42D2-8C12-1F054CF4F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800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75569"/>
                </a:solidFill>
                <a:latin typeface="Arial"/>
                <a:ea typeface="Arial"/>
                <a:cs typeface="Arial"/>
              </a:rPr>
              <a:t>TRUTHCART AI  •  CURRENT DEMO BUILD  •  18 OCT 2026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F7B3B775-8998-4C0C-87FD-41159890B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38900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06 / 06</a:t>
            </a:r>
          </a:p>
        </p:txBody>
      </p:sp>
      <p:sp>
        <p:nvSpPr>
          <p:cNvPr id="4" name="scope-number-current">
            <a:extLst xmlns:a="http://schemas.openxmlformats.org/drawingml/2006/main">
              <a:ext uri="{FF2B5EF4-FFF2-40B4-BE49-F238E27FC236}">
                <a16:creationId xmlns:a16="http://schemas.microsoft.com/office/drawing/2014/main" id="{5B30479E-C068-468E-BE15-1043D989E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180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555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defPPr>
            <a:lvl1pPr algn="l">
              <a:defRPr sz="555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lvl1pPr>
            <a:lvl2pPr algn="l">
              <a:defRPr sz="555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lvl2pPr>
            <a:lvl3pPr algn="l">
              <a:defRPr sz="555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lvl3pPr>
            <a:lvl4pPr algn="l">
              <a:defRPr sz="555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lvl4pPr>
            <a:lvl5pPr algn="l">
              <a:defRPr sz="555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lvl5pPr>
            <a:lvl6pPr algn="l">
              <a:defRPr sz="555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lvl6pPr>
            <a:lvl7pPr algn="l">
              <a:defRPr sz="555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lvl7pPr>
            <a:lvl8pPr algn="l">
              <a:defRPr sz="555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lvl8pPr>
            <a:lvl9pPr algn="l">
              <a:defRPr sz="555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555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10B981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5" name="scope-label-current">
            <a:extLst xmlns:a="http://schemas.openxmlformats.org/drawingml/2006/main">
              <a:ext uri="{FF2B5EF4-FFF2-40B4-BE49-F238E27FC236}">
                <a16:creationId xmlns:a16="http://schemas.microsoft.com/office/drawing/2014/main" id="{51D4B996-41DE-4352-8446-2ECB331AB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0A0F19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0A0F19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0A0F19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0A0F19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0A0F19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0A0F19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0A0F19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0A0F19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0A0F19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0A0F1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0A0F1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A0F19"/>
                </a:solidFill>
                <a:latin typeface="Arial"/>
                <a:ea typeface="Arial"/>
                <a:cs typeface="Arial"/>
              </a:rPr>
              <a:t>products in the demo catalogue</a:t>
            </a:r>
          </a:p>
        </p:txBody>
      </p:sp>
      <p:sp>
        <p:nvSpPr>
          <p:cNvPr id="6" name="scope-number-policy">
            <a:extLst xmlns:a="http://schemas.openxmlformats.org/drawingml/2006/main">
              <a:ext uri="{FF2B5EF4-FFF2-40B4-BE49-F238E27FC236}">
                <a16:creationId xmlns:a16="http://schemas.microsoft.com/office/drawing/2014/main" id="{3DD1FEF5-13A0-4747-A369-A34BC5D0F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562100"/>
            <a:ext cx="180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55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defPPr>
            <a:lvl1pPr algn="l">
              <a:defRPr sz="55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lvl1pPr>
            <a:lvl2pPr algn="l">
              <a:defRPr sz="55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lvl2pPr>
            <a:lvl3pPr algn="l">
              <a:defRPr sz="55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lvl3pPr>
            <a:lvl4pPr algn="l">
              <a:defRPr sz="55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lvl4pPr>
            <a:lvl5pPr algn="l">
              <a:defRPr sz="55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lvl5pPr>
            <a:lvl6pPr algn="l">
              <a:defRPr sz="55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lvl6pPr>
            <a:lvl7pPr algn="l">
              <a:defRPr sz="55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lvl7pPr>
            <a:lvl8pPr algn="l">
              <a:defRPr sz="55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lvl8pPr>
            <a:lvl9pPr algn="l">
              <a:defRPr sz="55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55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7" name="scope-label-policy">
            <a:extLst xmlns:a="http://schemas.openxmlformats.org/drawingml/2006/main">
              <a:ext uri="{FF2B5EF4-FFF2-40B4-BE49-F238E27FC236}">
                <a16:creationId xmlns:a16="http://schemas.microsoft.com/office/drawing/2014/main" id="{D23E216B-AFAC-47EC-8B01-0B5CD501D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4003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0A0F19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0A0F19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0A0F19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0A0F19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0A0F19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0A0F19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0A0F19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0A0F19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0A0F19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0A0F1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0A0F1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A0F19"/>
                </a:solidFill>
                <a:latin typeface="Arial"/>
                <a:ea typeface="Arial"/>
                <a:cs typeface="Arial"/>
              </a:rPr>
              <a:t>policy sections in the demo source</a:t>
            </a:r>
          </a:p>
        </p:txBody>
      </p:sp>
      <p:sp>
        <p:nvSpPr>
          <p:cNvPr id="8" name="scope-not-target">
            <a:extLst xmlns:a="http://schemas.openxmlformats.org/drawingml/2006/main">
              <a:ext uri="{FF2B5EF4-FFF2-40B4-BE49-F238E27FC236}">
                <a16:creationId xmlns:a16="http://schemas.microsoft.com/office/drawing/2014/main" id="{66AAC5DB-1B22-4439-A8AD-2D952A720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0A0F19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0A0F19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0A0F19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0A0F19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0A0F19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0A0F19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0A0F19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0A0F19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0A0F19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0A0F1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A0F1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A0F19"/>
                </a:solidFill>
                <a:latin typeface="Arial"/>
                <a:ea typeface="Arial"/>
                <a:cs typeface="Arial"/>
              </a:rPr>
              <a:t>The planned 5,000-product catalogue is not the current demo dataset.</a:t>
            </a:r>
          </a:p>
        </p:txBody>
      </p:sp>
      <p:sp>
        <p:nvSpPr>
          <p:cNvPr id="9" name="scope-current-tech">
            <a:extLst xmlns:a="http://schemas.openxmlformats.org/drawingml/2006/main">
              <a:ext uri="{FF2B5EF4-FFF2-40B4-BE49-F238E27FC236}">
                <a16:creationId xmlns:a16="http://schemas.microsoft.com/office/drawing/2014/main" id="{48F6895F-71EA-46C0-9A4B-323BE8FE3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01623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01623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01623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01623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01623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01623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01623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01623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01623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0162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0162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623"/>
                </a:solidFill>
                <a:latin typeface="Arial"/>
                <a:ea typeface="Arial"/>
                <a:cs typeface="Arial"/>
              </a:rPr>
              <a:t>Now: local lexical search, rule-based parsing, template answers, grounded product and policy evidence.</a:t>
            </a:r>
          </a:p>
        </p:txBody>
      </p:sp>
      <p:sp>
        <p:nvSpPr>
          <p:cNvPr id="10" name="scope-future">
            <a:extLst xmlns:a="http://schemas.openxmlformats.org/drawingml/2006/main">
              <a:ext uri="{FF2B5EF4-FFF2-40B4-BE49-F238E27FC236}">
                <a16:creationId xmlns:a16="http://schemas.microsoft.com/office/drawing/2014/main" id="{36641074-2289-4CFF-8F02-04A4F37C8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0125"/>
            <a:ext cx="1038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01623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01623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01623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01623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01623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01623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01623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01623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01623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0162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0162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623"/>
                </a:solidFill>
                <a:latin typeface="Arial"/>
                <a:ea typeface="Arial"/>
                <a:cs typeface="Arial"/>
              </a:rPr>
              <a:t>Next only if selection requires it: confirm the official catalogue schema and model-use rules before adding a major retrieval capability.</a:t>
            </a:r>
          </a:p>
        </p:txBody>
      </p:sp>
      <p:sp>
        <p:nvSpPr>
          <p:cNvPr id="11" name="scope-limit">
            <a:extLst xmlns:a="http://schemas.openxmlformats.org/drawingml/2006/main">
              <a:ext uri="{FF2B5EF4-FFF2-40B4-BE49-F238E27FC236}">
                <a16:creationId xmlns:a16="http://schemas.microsoft.com/office/drawing/2014/main" id="{0575EB29-CF54-41DD-BAA3-D7D052FBD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340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75569"/>
                </a:solidFill>
                <a:latin typeface="Arial"/>
                <a:ea typeface="Arial"/>
                <a:cs typeface="Arial"/>
              </a:rPr>
              <a:t>No latency or token-cost claim is made.</a:t>
            </a:r>
          </a:p>
        </p:txBody>
      </p:sp>
    </p:spTree>
    <p:extLst>
      <p:ext uri="{BB962C8B-B14F-4D97-AF65-F5344CB8AC3E}">
        <p14:creationId xmlns:p14="http://schemas.microsoft.com/office/powerpoint/2010/main" val="19916155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2026-10-18T06:27:55.2100000Z</dcterms:created>
  <dcterms:modified xsi:type="dcterms:W3CDTF">2026-10-18T06:27:55.2100000Z</dcterms:modified>
</coreProperties>
</file>